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72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64" r:id="rId13"/>
    <p:sldId id="271" r:id="rId14"/>
    <p:sldId id="265" r:id="rId15"/>
    <p:sldId id="266" r:id="rId16"/>
    <p:sldId id="273" r:id="rId17"/>
    <p:sldId id="267" r:id="rId18"/>
  </p:sldIdLst>
  <p:sldSz cx="18288000" cy="10287000"/>
  <p:notesSz cx="6858000" cy="9144000"/>
  <p:embeddedFontLst>
    <p:embeddedFont>
      <p:font typeface="Playfair Display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495800" y="1035037"/>
            <a:ext cx="10287000" cy="8216925"/>
          </a:xfrm>
          <a:custGeom>
            <a:avLst/>
            <a:gdLst/>
            <a:ahLst/>
            <a:cxnLst/>
            <a:rect l="l" t="t" r="r" b="b"/>
            <a:pathLst>
              <a:path w="3847338" h="4114800">
                <a:moveTo>
                  <a:pt x="0" y="0"/>
                </a:moveTo>
                <a:lnTo>
                  <a:pt x="3847338" y="0"/>
                </a:lnTo>
                <a:lnTo>
                  <a:pt x="38473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6" name="TextBox 16"/>
          <p:cNvSpPr txBox="1"/>
          <p:nvPr/>
        </p:nvSpPr>
        <p:spPr>
          <a:xfrm>
            <a:off x="1436191" y="2857500"/>
            <a:ext cx="15415618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NourishNet: A Smart Food Waste Redistribution and Resource Management Platform</a:t>
            </a:r>
            <a:endParaRPr lang="en-US" sz="6600" b="1" spc="-144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8B50B2-3A24-0081-A72F-80E42380B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3501" y="467275"/>
            <a:ext cx="15620998" cy="125934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CBA9E40-5D51-D0CC-7285-05ACE5C488CF}"/>
              </a:ext>
            </a:extLst>
          </p:cNvPr>
          <p:cNvSpPr txBox="1"/>
          <p:nvPr/>
        </p:nvSpPr>
        <p:spPr>
          <a:xfrm>
            <a:off x="12954000" y="6697417"/>
            <a:ext cx="469070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Juhi Surin (192525148)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Pranayaa S (192524110)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Spandana (192525160)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Lakshmi Vani (192365018)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86089D-BAB4-C85E-2B45-B17902C39F19}"/>
              </a:ext>
            </a:extLst>
          </p:cNvPr>
          <p:cNvSpPr txBox="1"/>
          <p:nvPr/>
        </p:nvSpPr>
        <p:spPr>
          <a:xfrm>
            <a:off x="1333501" y="7436080"/>
            <a:ext cx="470090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R. Latha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5400" y="419100"/>
            <a:ext cx="7200900" cy="1530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535"/>
              </a:lnSpc>
            </a:pPr>
            <a:r>
              <a:rPr lang="en-US" sz="8000" b="1" spc="-144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696F3-99D0-D78B-F987-F8343B6C21EA}"/>
              </a:ext>
            </a:extLst>
          </p:cNvPr>
          <p:cNvSpPr txBox="1"/>
          <p:nvPr/>
        </p:nvSpPr>
        <p:spPr>
          <a:xfrm>
            <a:off x="1154312" y="3390900"/>
            <a:ext cx="10515600" cy="517064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Food waste is a major global issue, while many people still face food insecurity due to inefficient food distribution.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NourishNet is a smart web-based platform that connects food donors with NGOs and volunteers.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system enables real-time food donation, resource management, and delivery tracking.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It reduces food wastage through efficient redistribution and coordinated logistics.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platform promotes social responsibility by ensuring surplus food reaches people in need safely and quickly.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3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65E10F-860C-F628-722A-98B2405DDB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D6CED4-AF3B-9498-ADD8-CC33F2295F3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3" name="Freeform 6">
            <a:extLst>
              <a:ext uri="{FF2B5EF4-FFF2-40B4-BE49-F238E27FC236}">
                <a16:creationId xmlns:a16="http://schemas.microsoft.com/office/drawing/2014/main" id="{5E80AB4B-5808-4CD2-BE10-060A2711D51B}"/>
              </a:ext>
            </a:extLst>
          </p:cNvPr>
          <p:cNvSpPr/>
          <p:nvPr/>
        </p:nvSpPr>
        <p:spPr>
          <a:xfrm>
            <a:off x="12039600" y="3543300"/>
            <a:ext cx="5791200" cy="4295587"/>
          </a:xfrm>
          <a:custGeom>
            <a:avLst/>
            <a:gdLst/>
            <a:ahLst/>
            <a:cxnLst/>
            <a:rect l="l" t="t" r="r" b="b"/>
            <a:pathLst>
              <a:path w="7156174" h="4114800">
                <a:moveTo>
                  <a:pt x="0" y="0"/>
                </a:moveTo>
                <a:lnTo>
                  <a:pt x="7156174" y="0"/>
                </a:lnTo>
                <a:lnTo>
                  <a:pt x="71561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6934200" y="419100"/>
            <a:ext cx="4838700" cy="1556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535"/>
              </a:lnSpc>
            </a:pPr>
            <a:r>
              <a:rPr lang="en-US" sz="8600" b="1" spc="-144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DB1213-5A43-2DEA-B8E0-D9880B40AFB7}"/>
              </a:ext>
            </a:extLst>
          </p:cNvPr>
          <p:cNvSpPr txBox="1"/>
          <p:nvPr/>
        </p:nvSpPr>
        <p:spPr>
          <a:xfrm>
            <a:off x="2631645" y="2789009"/>
            <a:ext cx="12420600" cy="47089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web platform for managing food donations and redistribution.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user registration with role-based access for Donors, NGOs, Volunteers, and Admins.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food donation, recipient matching, delivery assignment, and real-time tracking.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transparency through dashboards, reports, feedback, and administrative monitoring.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food wastage by ensuring timely and efficient redistribution of surplus food.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CECCAA0-FEFD-967D-5D16-04D28A5DA764}"/>
              </a:ext>
            </a:extLst>
          </p:cNvPr>
          <p:cNvSpPr/>
          <p:nvPr/>
        </p:nvSpPr>
        <p:spPr>
          <a:xfrm>
            <a:off x="13253309" y="7573954"/>
            <a:ext cx="4348891" cy="2370146"/>
          </a:xfrm>
          <a:custGeom>
            <a:avLst/>
            <a:gdLst/>
            <a:ahLst/>
            <a:cxnLst/>
            <a:rect l="l" t="t" r="r" b="b"/>
            <a:pathLst>
              <a:path w="4348891" h="2370146">
                <a:moveTo>
                  <a:pt x="0" y="0"/>
                </a:moveTo>
                <a:lnTo>
                  <a:pt x="4348891" y="0"/>
                </a:lnTo>
                <a:lnTo>
                  <a:pt x="4348891" y="2370146"/>
                </a:lnTo>
                <a:lnTo>
                  <a:pt x="0" y="2370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09B6F1-67B8-EE16-0B08-27A9DF18F49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540666-C1F4-E3AE-9141-578DDE4482E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914DC-9BFE-EDB1-A1BE-6B89B1C32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D2B1D830-C12E-535E-1C8A-6E085D40C599}"/>
              </a:ext>
            </a:extLst>
          </p:cNvPr>
          <p:cNvSpPr txBox="1"/>
          <p:nvPr/>
        </p:nvSpPr>
        <p:spPr>
          <a:xfrm>
            <a:off x="5181600" y="190500"/>
            <a:ext cx="8991600" cy="1556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535"/>
              </a:lnSpc>
            </a:pPr>
            <a:r>
              <a:rPr lang="en-US" sz="8600" b="1" spc="-144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Literature Survey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6B42CD-905A-717C-167C-DADAC91A21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D6D619-0017-52DE-A381-AB5276CBCE9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906CA4-BBEE-F1A8-B8D0-25F4B864B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205383"/>
              </p:ext>
            </p:extLst>
          </p:nvPr>
        </p:nvGraphicFramePr>
        <p:xfrm>
          <a:off x="2079456" y="1976065"/>
          <a:ext cx="14249400" cy="7982688"/>
        </p:xfrm>
        <a:graphic>
          <a:graphicData uri="http://schemas.openxmlformats.org/drawingml/2006/table">
            <a:tbl>
              <a:tblPr/>
              <a:tblGrid>
                <a:gridCol w="3526113">
                  <a:extLst>
                    <a:ext uri="{9D8B030D-6E8A-4147-A177-3AD203B41FA5}">
                      <a16:colId xmlns:a16="http://schemas.microsoft.com/office/drawing/2014/main" val="491757436"/>
                    </a:ext>
                  </a:extLst>
                </a:gridCol>
                <a:gridCol w="5973488">
                  <a:extLst>
                    <a:ext uri="{9D8B030D-6E8A-4147-A177-3AD203B41FA5}">
                      <a16:colId xmlns:a16="http://schemas.microsoft.com/office/drawing/2014/main" val="1396592160"/>
                    </a:ext>
                  </a:extLst>
                </a:gridCol>
                <a:gridCol w="4749799">
                  <a:extLst>
                    <a:ext uri="{9D8B030D-6E8A-4147-A177-3AD203B41FA5}">
                      <a16:colId xmlns:a16="http://schemas.microsoft.com/office/drawing/2014/main" val="3223565110"/>
                    </a:ext>
                  </a:extLst>
                </a:gridCol>
              </a:tblGrid>
              <a:tr h="3125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Discovery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623697"/>
                  </a:ext>
                </a:extLst>
              </a:tr>
              <a:tr h="1431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Maleki Vishkaei &amp; De Giovanni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smart food-sharing platform using a heuristic algorithm to improve food redistribution and promote social sustainability.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381419"/>
                  </a:ext>
                </a:extLst>
              </a:tr>
              <a:tr h="11515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Devi, Selvi, Maheshwari &amp; Yuvashree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</a:t>
                      </a: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Food Linker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 smart system that connects donors and recipients to reduce global food waste efficiently.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180514"/>
                  </a:ext>
                </a:extLst>
              </a:tr>
              <a:tr h="11515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Swathi, Reddy, Palukuru &amp; Reddy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Presented a comprehensive smart food waste management system with effective donation and inventory management.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588530"/>
                  </a:ext>
                </a:extLst>
              </a:tr>
              <a:tr h="1431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Vijay, Kumar, Srinidhi, Ujain &amp; Ujain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</a:t>
                      </a: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 Surplus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 food redistribution platform that reduces urban food waste and combats hunger through digital coordination.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902971"/>
                  </a:ext>
                </a:extLst>
              </a:tr>
              <a:tr h="11515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Bharani, Mohanraj, Sujith &amp; Vinothkumar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user-centric surplus food management application to simplify food donation and improve resource utilization.</a:t>
                      </a:r>
                    </a:p>
                  </a:txBody>
                  <a:tcPr marL="50288" marR="50288" marT="25144" marB="25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71836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BB962A-0248-85DA-536B-8FAFF4B07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240026"/>
              </p:ext>
            </p:extLst>
          </p:nvPr>
        </p:nvGraphicFramePr>
        <p:xfrm>
          <a:off x="1524000" y="1810097"/>
          <a:ext cx="15192180" cy="8148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98045">
                  <a:extLst>
                    <a:ext uri="{9D8B030D-6E8A-4147-A177-3AD203B41FA5}">
                      <a16:colId xmlns:a16="http://schemas.microsoft.com/office/drawing/2014/main" val="810710093"/>
                    </a:ext>
                  </a:extLst>
                </a:gridCol>
                <a:gridCol w="3798045">
                  <a:extLst>
                    <a:ext uri="{9D8B030D-6E8A-4147-A177-3AD203B41FA5}">
                      <a16:colId xmlns:a16="http://schemas.microsoft.com/office/drawing/2014/main" val="3933508114"/>
                    </a:ext>
                  </a:extLst>
                </a:gridCol>
                <a:gridCol w="3798045">
                  <a:extLst>
                    <a:ext uri="{9D8B030D-6E8A-4147-A177-3AD203B41FA5}">
                      <a16:colId xmlns:a16="http://schemas.microsoft.com/office/drawing/2014/main" val="3894821370"/>
                    </a:ext>
                  </a:extLst>
                </a:gridCol>
                <a:gridCol w="3798045">
                  <a:extLst>
                    <a:ext uri="{9D8B030D-6E8A-4147-A177-3AD203B41FA5}">
                      <a16:colId xmlns:a16="http://schemas.microsoft.com/office/drawing/2014/main" val="3053005517"/>
                    </a:ext>
                  </a:extLst>
                </a:gridCol>
              </a:tblGrid>
              <a:tr h="465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/ Publication Name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Discovery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131308"/>
                  </a:ext>
                </a:extLst>
              </a:tr>
              <a:tr h="1663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Maleki Vishkaei &amp; De Giovanni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Food-Sharing Platforms for Social Sustainability: A Heuristic Algorithm Approach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smart food-sharing platform using a heuristic algorithm to improve food redistribution and promote social sustainability.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193982"/>
                  </a:ext>
                </a:extLst>
              </a:tr>
              <a:tr h="12639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</a:t>
                      </a:r>
                      <a:r>
                        <a:rPr lang="en-IN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Seedha</a:t>
                      </a: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Devi, D. Selvi, K. Uma Maheshwari &amp; G. Yuvashree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Food Linker: A Smart System for Global Waste Reduction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smart system connecting food donors and recipients to reduce food waste efficiently.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86012"/>
                  </a:ext>
                </a:extLst>
              </a:tr>
              <a:tr h="14634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Swathi, Reddy &amp; Palukuru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Comprehensive Analysis: Smart Food Waste Management System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Presented a smart food-waste management system with effective donation and inventory management.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351646"/>
                  </a:ext>
                </a:extLst>
              </a:tr>
              <a:tr h="14634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Vijay K., Dhanush Ishwar D., Thilak Kumar V., Srinidhi D. &amp; Ujjain S.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 Surplus: A Smart Food Redistribution Platform for Reducing Urban Food Waste and Combating Hunger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a food redistribution platform that reduces urban food waste and combats hunger through digital coordination.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356924"/>
                  </a:ext>
                </a:extLst>
              </a:tr>
              <a:tr h="1663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Bharani, Mohanraj, Sujith &amp; Vinothkumar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Optimizing Surplus Food Management: A User-Centric Application Approach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user-centric surplus food management application to simplify food donation and improve resource utilization.</a:t>
                      </a:r>
                    </a:p>
                  </a:txBody>
                  <a:tcPr marL="37716" marR="37716" marT="18858" marB="18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485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670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14600" y="56480"/>
            <a:ext cx="14668500" cy="1514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535"/>
              </a:lnSpc>
            </a:pPr>
            <a:r>
              <a:rPr lang="en-US" sz="7200" b="1" spc="-144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Existing system vs Proposed system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C48886-8F83-9112-9BF3-6A0D6EE62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056748"/>
              </p:ext>
            </p:extLst>
          </p:nvPr>
        </p:nvGraphicFramePr>
        <p:xfrm>
          <a:off x="1638300" y="2705100"/>
          <a:ext cx="15011400" cy="6126323"/>
        </p:xfrm>
        <a:graphic>
          <a:graphicData uri="http://schemas.openxmlformats.org/drawingml/2006/table">
            <a:tbl>
              <a:tblPr/>
              <a:tblGrid>
                <a:gridCol w="7505700">
                  <a:extLst>
                    <a:ext uri="{9D8B030D-6E8A-4147-A177-3AD203B41FA5}">
                      <a16:colId xmlns:a16="http://schemas.microsoft.com/office/drawing/2014/main" val="917360810"/>
                    </a:ext>
                  </a:extLst>
                </a:gridCol>
                <a:gridCol w="7505700">
                  <a:extLst>
                    <a:ext uri="{9D8B030D-6E8A-4147-A177-3AD203B41FA5}">
                      <a16:colId xmlns:a16="http://schemas.microsoft.com/office/drawing/2014/main" val="1635725350"/>
                    </a:ext>
                  </a:extLst>
                </a:gridCol>
              </a:tblGrid>
              <a:tr h="556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584180"/>
                  </a:ext>
                </a:extLst>
              </a:tr>
              <a:tr h="1021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Food donations are managed manually.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Fully automated web-based platform.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260360"/>
                  </a:ext>
                </a:extLst>
              </a:tr>
              <a:tr h="14851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communication between donors and NGOs.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communication and notifications.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530765"/>
                  </a:ext>
                </a:extLst>
              </a:tr>
              <a:tr h="1021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efficient tracking of donations.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donation and delivery tracking.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883385"/>
                  </a:ext>
                </a:extLst>
              </a:tr>
              <a:tr h="1021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record maintenance.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digital database management.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764576"/>
                  </a:ext>
                </a:extLst>
              </a:tr>
              <a:tr h="1021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analytical reports available.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with reports, statistics, and feedback.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42675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BBB1071-592D-574C-A5D9-6B54177C82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B69609-84A4-4856-67DA-4A0084EEFF4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76750" y="30726"/>
            <a:ext cx="9334500" cy="1530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535"/>
              </a:lnSpc>
            </a:pPr>
            <a:r>
              <a:rPr lang="en-US" sz="8000" b="1" spc="-144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448503-AF95-21BF-01A9-6C85390DB0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A622AD-4C18-0A78-0578-74BB8080265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DC8959-646D-88AF-1D2D-1DC62F792F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92"/>
          <a:stretch>
            <a:fillRect/>
          </a:stretch>
        </p:blipFill>
        <p:spPr>
          <a:xfrm>
            <a:off x="2283475" y="1778848"/>
            <a:ext cx="140208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0" y="30726"/>
            <a:ext cx="5143500" cy="1530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535"/>
              </a:lnSpc>
            </a:pPr>
            <a:r>
              <a:rPr lang="en-US" sz="8000" b="1" spc="-144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Tools used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1BB3AE-FC28-9434-DEF6-5B6DE50E2E38}"/>
              </a:ext>
            </a:extLst>
          </p:cNvPr>
          <p:cNvSpPr txBox="1"/>
          <p:nvPr/>
        </p:nvSpPr>
        <p:spPr>
          <a:xfrm>
            <a:off x="4572000" y="2792697"/>
            <a:ext cx="9144000" cy="47089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JavaScript, Bootstrap.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 and XAMPP.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&amp; Design: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 and Figma.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365366-7BB5-B330-BD9C-DB7FB40C00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81E66F-E950-DA18-41ED-E2CF76E2BB7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6850" y="266700"/>
            <a:ext cx="153543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User &amp; Organization Management</a:t>
            </a:r>
            <a:endParaRPr lang="en-US" sz="8000" b="1" spc="-144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3B881-BDC5-1397-43BA-3A9B887FC811}"/>
              </a:ext>
            </a:extLst>
          </p:cNvPr>
          <p:cNvSpPr txBox="1"/>
          <p:nvPr/>
        </p:nvSpPr>
        <p:spPr>
          <a:xfrm>
            <a:off x="2514600" y="3009900"/>
            <a:ext cx="13716000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manages user registration, authentication, and secure login functionality.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provides role-based access for Donors, NGOs, Volunteers, and Administrators.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create, edit, and manage their personal and organizational profiles.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can register and undergo verification before accessing the platform.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information is stored securely using authentication and database management techniques.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442C92-DCDB-3184-7A5A-6CE5D96ADF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9423C-3BEC-F62D-0AD1-1AF84255F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2957215-1423-E9D1-EC5B-C8B8EF6CB06A}"/>
              </a:ext>
            </a:extLst>
          </p:cNvPr>
          <p:cNvSpPr txBox="1"/>
          <p:nvPr/>
        </p:nvSpPr>
        <p:spPr>
          <a:xfrm>
            <a:off x="1466850" y="266700"/>
            <a:ext cx="153543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Food Donation &amp; Resource Management</a:t>
            </a:r>
            <a:endParaRPr lang="en-US" sz="8000" b="1" spc="-144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4CB20-1C00-60F1-9D0D-99B5E239304F}"/>
              </a:ext>
            </a:extLst>
          </p:cNvPr>
          <p:cNvSpPr txBox="1"/>
          <p:nvPr/>
        </p:nvSpPr>
        <p:spPr>
          <a:xfrm>
            <a:off x="3581400" y="4000500"/>
            <a:ext cx="11963400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Donors can add food donation details, including quantity, type, and expiry date.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maintains an updated inventory of available food resources.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Donation availability and status are updated in real time.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previous donation records and history.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and input validation ensure accurate resource management.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B2D84B-76FE-E440-98AA-5164D1C955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FC9B88-300F-E1FE-17F1-65792A62F9B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68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D547E-9013-DA4F-7F52-25B691A8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761B47D-ECBF-2322-0C93-20C8FF9E65E5}"/>
              </a:ext>
            </a:extLst>
          </p:cNvPr>
          <p:cNvSpPr txBox="1"/>
          <p:nvPr/>
        </p:nvSpPr>
        <p:spPr>
          <a:xfrm>
            <a:off x="1466850" y="336699"/>
            <a:ext cx="153543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Smart Distribution &amp; Delivery Management</a:t>
            </a:r>
            <a:endParaRPr lang="en-US" sz="8000" b="1" spc="-144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B62E1-3F5E-114E-87FC-720AAEB352C8}"/>
              </a:ext>
            </a:extLst>
          </p:cNvPr>
          <p:cNvSpPr txBox="1"/>
          <p:nvPr/>
        </p:nvSpPr>
        <p:spPr>
          <a:xfrm>
            <a:off x="4114800" y="3848100"/>
            <a:ext cx="11430000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matches food donations with nearby NGOs based on location.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Volunteers are assigned automatically for food pickup and delivery.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 and delivery progress are tracked in real time.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are sent to all users regarding delivery updates.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tracking improves delivery efficiency and transparency.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B7A951-3BB5-1558-2B85-B831A7AA71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480B94-0AC2-B293-F5F7-7F08D191837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22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6BA81-ACD8-3BAE-0F2E-881FECEE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9458A8A-3496-4137-697F-7D1256E113B8}"/>
              </a:ext>
            </a:extLst>
          </p:cNvPr>
          <p:cNvSpPr txBox="1"/>
          <p:nvPr/>
        </p:nvSpPr>
        <p:spPr>
          <a:xfrm>
            <a:off x="1466850" y="266700"/>
            <a:ext cx="153543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Analytics, Feedback </a:t>
            </a:r>
          </a:p>
          <a:p>
            <a:pPr algn="ctr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Administration</a:t>
            </a:r>
            <a:endParaRPr lang="en-US" sz="8000" b="1" spc="-144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38A0B-E4FA-681F-E11F-B44345667C65}"/>
              </a:ext>
            </a:extLst>
          </p:cNvPr>
          <p:cNvSpPr txBox="1"/>
          <p:nvPr/>
        </p:nvSpPr>
        <p:spPr>
          <a:xfrm>
            <a:off x="3429000" y="3619500"/>
            <a:ext cx="11963400" cy="48320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displays donation statistics, user activity, and delivery performance.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submit feedback and rate the quality of services.</a:t>
            </a:r>
          </a:p>
          <a:p>
            <a:pPr lvl="0" algn="just"/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monitor users, donations, and platform activities.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Reports are generated to evaluate overall system performance.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approval ensures secure and reliable platform management.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05E4FA-DCE1-D6F4-F370-0100D9335D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FEB678-D327-0851-E82D-1568CD266C4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49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8068" y="266700"/>
            <a:ext cx="6134100" cy="1556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535"/>
              </a:lnSpc>
            </a:pPr>
            <a:r>
              <a:rPr lang="en-IN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8800" b="1" spc="-144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F29AF7-272B-C7BB-7D6F-79D60CEEE1FD}"/>
              </a:ext>
            </a:extLst>
          </p:cNvPr>
          <p:cNvSpPr txBox="1"/>
          <p:nvPr/>
        </p:nvSpPr>
        <p:spPr>
          <a:xfrm>
            <a:off x="1154312" y="3162300"/>
            <a:ext cx="11430000" cy="50167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food wastage through efficient redistribution.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coordination between donors, NGOs, and volunteers.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tracking and status updates.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and transparent data management.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reports and analytics for better decision-making.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21DCF7-0E6B-5DA3-FECA-475918C6D3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0C5146-32F0-2CB2-E333-BA444D58EDE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2" name="Freeform 9">
            <a:extLst>
              <a:ext uri="{FF2B5EF4-FFF2-40B4-BE49-F238E27FC236}">
                <a16:creationId xmlns:a16="http://schemas.microsoft.com/office/drawing/2014/main" id="{6C9758FF-5153-B710-F711-A6081E755C4F}"/>
              </a:ext>
            </a:extLst>
          </p:cNvPr>
          <p:cNvSpPr/>
          <p:nvPr/>
        </p:nvSpPr>
        <p:spPr>
          <a:xfrm>
            <a:off x="12801600" y="3926156"/>
            <a:ext cx="5128050" cy="2512744"/>
          </a:xfrm>
          <a:custGeom>
            <a:avLst/>
            <a:gdLst/>
            <a:ahLst/>
            <a:cxnLst/>
            <a:rect l="l" t="t" r="r" b="b"/>
            <a:pathLst>
              <a:path w="5128050" h="2512744">
                <a:moveTo>
                  <a:pt x="0" y="0"/>
                </a:moveTo>
                <a:lnTo>
                  <a:pt x="5128050" y="0"/>
                </a:lnTo>
                <a:lnTo>
                  <a:pt x="5128050" y="2512745"/>
                </a:lnTo>
                <a:lnTo>
                  <a:pt x="0" y="2512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7AF4B-6F16-EEC2-21BB-6E91F00C9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A40D708-982F-DB7C-4884-F3557F1D5113}"/>
              </a:ext>
            </a:extLst>
          </p:cNvPr>
          <p:cNvSpPr txBox="1"/>
          <p:nvPr/>
        </p:nvSpPr>
        <p:spPr>
          <a:xfrm>
            <a:off x="6248400" y="82369"/>
            <a:ext cx="6609195" cy="1562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535"/>
              </a:lnSpc>
            </a:pPr>
            <a:r>
              <a:rPr lang="en-IN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8800" b="1" spc="-144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CBC329-AF9E-E9BA-B4DE-3A5E882BA49C}"/>
              </a:ext>
            </a:extLst>
          </p:cNvPr>
          <p:cNvSpPr txBox="1"/>
          <p:nvPr/>
        </p:nvSpPr>
        <p:spPr>
          <a:xfrm>
            <a:off x="852435" y="3062673"/>
            <a:ext cx="9144000" cy="50167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NGOs and charitable organizations.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Restaurants, hotels, and catering services.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and hostels.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Corporate social responsibility (CSR) initiatives.</a:t>
            </a:r>
          </a:p>
          <a:p>
            <a:pPr lvl="0" algn="just"/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 food banks and disaster relief programs.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37AD23-E594-54E6-615B-A84C0FC1F2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390F6A-5500-010F-39D9-6B8EA23EC74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1" name="Freeform 13">
            <a:extLst>
              <a:ext uri="{FF2B5EF4-FFF2-40B4-BE49-F238E27FC236}">
                <a16:creationId xmlns:a16="http://schemas.microsoft.com/office/drawing/2014/main" id="{9D9695F4-DA5C-116E-C8A6-F1531387C2F7}"/>
              </a:ext>
            </a:extLst>
          </p:cNvPr>
          <p:cNvSpPr/>
          <p:nvPr/>
        </p:nvSpPr>
        <p:spPr>
          <a:xfrm>
            <a:off x="11430000" y="4521458"/>
            <a:ext cx="3372434" cy="2438400"/>
          </a:xfrm>
          <a:custGeom>
            <a:avLst/>
            <a:gdLst/>
            <a:ahLst/>
            <a:cxnLst/>
            <a:rect l="l" t="t" r="r" b="b"/>
            <a:pathLst>
              <a:path w="5048834" h="4114800">
                <a:moveTo>
                  <a:pt x="0" y="0"/>
                </a:moveTo>
                <a:lnTo>
                  <a:pt x="5048834" y="0"/>
                </a:lnTo>
                <a:lnTo>
                  <a:pt x="5048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0DAB427-BB3F-B9E6-56DC-EFED6D090575}"/>
              </a:ext>
            </a:extLst>
          </p:cNvPr>
          <p:cNvSpPr/>
          <p:nvPr/>
        </p:nvSpPr>
        <p:spPr>
          <a:xfrm>
            <a:off x="14802434" y="4161352"/>
            <a:ext cx="2997591" cy="2819400"/>
          </a:xfrm>
          <a:custGeom>
            <a:avLst/>
            <a:gdLst/>
            <a:ahLst/>
            <a:cxnLst/>
            <a:rect l="l" t="t" r="r" b="b"/>
            <a:pathLst>
              <a:path w="4177462" h="4114800">
                <a:moveTo>
                  <a:pt x="0" y="0"/>
                </a:moveTo>
                <a:lnTo>
                  <a:pt x="4177462" y="0"/>
                </a:lnTo>
                <a:lnTo>
                  <a:pt x="41774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25199EBD-8938-B863-7B9A-C031DD6676D6}"/>
              </a:ext>
            </a:extLst>
          </p:cNvPr>
          <p:cNvSpPr/>
          <p:nvPr/>
        </p:nvSpPr>
        <p:spPr>
          <a:xfrm>
            <a:off x="14334436" y="3467100"/>
            <a:ext cx="1055475" cy="1214283"/>
          </a:xfrm>
          <a:custGeom>
            <a:avLst/>
            <a:gdLst/>
            <a:ahLst/>
            <a:cxnLst/>
            <a:rect l="l" t="t" r="r" b="b"/>
            <a:pathLst>
              <a:path w="2942082" h="4114800">
                <a:moveTo>
                  <a:pt x="0" y="0"/>
                </a:moveTo>
                <a:lnTo>
                  <a:pt x="2942082" y="0"/>
                </a:lnTo>
                <a:lnTo>
                  <a:pt x="2942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4355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38800" y="342900"/>
            <a:ext cx="7632254" cy="161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535"/>
              </a:lnSpc>
            </a:pPr>
            <a:r>
              <a:rPr lang="en-IN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12000" b="1" spc="-144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D3F42-21C8-1121-1731-3BF39A31E3D6}"/>
              </a:ext>
            </a:extLst>
          </p:cNvPr>
          <p:cNvSpPr txBox="1"/>
          <p:nvPr/>
        </p:nvSpPr>
        <p:spPr>
          <a:xfrm>
            <a:off x="1371600" y="3314700"/>
            <a:ext cx="11125200" cy="50167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AI to predict food demand and optimize donation matching.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Android and iOS users.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GPS-based live vehicle tracking for deliveries.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multilingual support for wider accessibility.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platform to support nationwide food redistribution.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FBA40E-6344-C753-7268-9ED393DC8F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D21AEB-1CC6-58B7-C7AE-4AC0071CCAA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0" name="Freeform 6">
            <a:extLst>
              <a:ext uri="{FF2B5EF4-FFF2-40B4-BE49-F238E27FC236}">
                <a16:creationId xmlns:a16="http://schemas.microsoft.com/office/drawing/2014/main" id="{48F9C0D6-B309-3E86-FF3D-FA06092354E9}"/>
              </a:ext>
            </a:extLst>
          </p:cNvPr>
          <p:cNvSpPr/>
          <p:nvPr/>
        </p:nvSpPr>
        <p:spPr>
          <a:xfrm>
            <a:off x="13106400" y="3543300"/>
            <a:ext cx="3971470" cy="4205434"/>
          </a:xfrm>
          <a:custGeom>
            <a:avLst/>
            <a:gdLst/>
            <a:ahLst/>
            <a:cxnLst/>
            <a:rect l="l" t="t" r="r" b="b"/>
            <a:pathLst>
              <a:path w="2076910" h="2197788">
                <a:moveTo>
                  <a:pt x="0" y="0"/>
                </a:moveTo>
                <a:lnTo>
                  <a:pt x="2076909" y="0"/>
                </a:lnTo>
                <a:lnTo>
                  <a:pt x="2076909" y="2197787"/>
                </a:lnTo>
                <a:lnTo>
                  <a:pt x="0" y="2197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2" name="Freeform 14">
            <a:extLst>
              <a:ext uri="{FF2B5EF4-FFF2-40B4-BE49-F238E27FC236}">
                <a16:creationId xmlns:a16="http://schemas.microsoft.com/office/drawing/2014/main" id="{4F6EA45B-8C2C-E692-CFE2-615BB0D98FF6}"/>
              </a:ext>
            </a:extLst>
          </p:cNvPr>
          <p:cNvSpPr/>
          <p:nvPr/>
        </p:nvSpPr>
        <p:spPr>
          <a:xfrm>
            <a:off x="14325600" y="1999938"/>
            <a:ext cx="1314762" cy="1314762"/>
          </a:xfrm>
          <a:custGeom>
            <a:avLst/>
            <a:gdLst/>
            <a:ahLst/>
            <a:cxnLst/>
            <a:rect l="l" t="t" r="r" b="b"/>
            <a:pathLst>
              <a:path w="1314762" h="1314762">
                <a:moveTo>
                  <a:pt x="0" y="0"/>
                </a:moveTo>
                <a:lnTo>
                  <a:pt x="1314762" y="0"/>
                </a:lnTo>
                <a:lnTo>
                  <a:pt x="1314762" y="1314763"/>
                </a:lnTo>
                <a:lnTo>
                  <a:pt x="0" y="13147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0" y="495300"/>
            <a:ext cx="6057900" cy="1588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535"/>
              </a:lnSpc>
            </a:pPr>
            <a:r>
              <a:rPr lang="en-US" sz="8800" b="1" spc="-144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5630D1-29CE-27A6-F021-8652F50E5C28}"/>
              </a:ext>
            </a:extLst>
          </p:cNvPr>
          <p:cNvSpPr txBox="1"/>
          <p:nvPr/>
        </p:nvSpPr>
        <p:spPr>
          <a:xfrm>
            <a:off x="2026563" y="3086100"/>
            <a:ext cx="8534400" cy="60016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NourishNet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effective solution for reducing food wastage through digital technology.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connects donors, NGOs, volunteers, and administrators on a single system.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donation management and delivery tracking improve operational efficiency.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and feedback features enhance transparency and service quality.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proposed system contributes to sustainable food distribution and social welfare.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0189F-5B6A-5739-CB15-B516BC5213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FFDE44-B11A-9756-CA30-1FC05503390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0" name="Freeform 4">
            <a:extLst>
              <a:ext uri="{FF2B5EF4-FFF2-40B4-BE49-F238E27FC236}">
                <a16:creationId xmlns:a16="http://schemas.microsoft.com/office/drawing/2014/main" id="{01795ABE-003E-BD19-9630-1EB6FB6EE1FD}"/>
              </a:ext>
            </a:extLst>
          </p:cNvPr>
          <p:cNvSpPr/>
          <p:nvPr/>
        </p:nvSpPr>
        <p:spPr>
          <a:xfrm>
            <a:off x="11201400" y="3048000"/>
            <a:ext cx="6847993" cy="5288459"/>
          </a:xfrm>
          <a:custGeom>
            <a:avLst/>
            <a:gdLst/>
            <a:ahLst/>
            <a:cxnLst/>
            <a:rect l="l" t="t" r="r" b="b"/>
            <a:pathLst>
              <a:path w="4747919" h="3489721">
                <a:moveTo>
                  <a:pt x="0" y="0"/>
                </a:moveTo>
                <a:lnTo>
                  <a:pt x="4747920" y="0"/>
                </a:lnTo>
                <a:lnTo>
                  <a:pt x="4747920" y="3489721"/>
                </a:lnTo>
                <a:lnTo>
                  <a:pt x="0" y="34897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B0EEB-FAA8-5F32-8B5B-D936190A3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95179B8-4E18-22FF-D5A5-C515D181E8EE}"/>
              </a:ext>
            </a:extLst>
          </p:cNvPr>
          <p:cNvSpPr txBox="1"/>
          <p:nvPr/>
        </p:nvSpPr>
        <p:spPr>
          <a:xfrm>
            <a:off x="6019800" y="495300"/>
            <a:ext cx="6057900" cy="1588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535"/>
              </a:lnSpc>
            </a:pPr>
            <a:r>
              <a:rPr lang="en-US" sz="8800" b="1" spc="-144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A2C47-8799-3334-51E4-4149568CE651}"/>
              </a:ext>
            </a:extLst>
          </p:cNvPr>
          <p:cNvSpPr txBox="1"/>
          <p:nvPr/>
        </p:nvSpPr>
        <p:spPr>
          <a:xfrm>
            <a:off x="1219200" y="2517993"/>
            <a:ext cx="15925800" cy="68927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Maleki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Vishkaei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B., &amp; De Giovanni, P. (2026). Smart food‐sharing platforms for social sustainability: A heuristic algorithm approach.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Transactions in Operational Research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2893-2920.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Devi, V. S., Selvi, D., Maheshwari, U., &amp;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Yuvashree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(2026). Food linker: A smart system for global waste reduction.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&amp; Extended Technologies Research (IJEETR)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5012-5021.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Swathi, B., Reddy, I.,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Palukuru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A., &amp; Reddy, S. P. (2025, October). A comprehensive analysis: Smart food waste management system. In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10th International Conference on Communication and Electronics Systems (ICCES)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1703-1707). IEEE.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Bharatha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K. (2025). AI-Augmented Redistribution: Human-AI Collaboration to Prevent Waste and Feed Communities.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Computer Science and Technology Studies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(10), 120-127.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Vijay, K., Kumar, T., Srinidhi, D., &amp; Ujjain, S. (2025, August). Serve Surplus: A Smart Food Redistribution Platform for Reducing Urban Food Waste and Combating Hunger. In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3rd International Conference on Sustainable Computing and Data Communication Systems (ICSCDS)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1734-1738). IEEE.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Bharani, S., Mohanraj, E., Sujith, M., &amp;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Vinothkumar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(2024, February). Optimizing surplus food management: A user-centric application approach. In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Second International Conference on Emerging Trends in Information Technology and Engineering (ICETITE)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1-6). IEEE.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Chakraborty, S., Sharma, A., Raj, S., &amp; Singh, N. (2025, February). A Smart Waste Food Management and Donation Platform Leveraging Machine Learning and Web Technologies. In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Innovative Computing And Communication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549-564). Singapore: Springer Nature Singapore.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7985A2-CAEA-C83D-6774-195EDDD7D6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AE88FA-A7ED-6ABF-05A5-6916595E35B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11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11906" y="3926308"/>
            <a:ext cx="11264187" cy="1837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35"/>
              </a:lnSpc>
            </a:pPr>
            <a:r>
              <a:rPr lang="en-US" sz="14400" b="1" spc="-144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1427</Words>
  <Application>Microsoft Office PowerPoint</Application>
  <PresentationFormat>Custom</PresentationFormat>
  <Paragraphs>174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Times New Roman</vt:lpstr>
      <vt:lpstr>Arial</vt:lpstr>
      <vt:lpstr>Calibri</vt:lpstr>
      <vt:lpstr>Playfair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THANK YOU</dc:title>
  <dc:creator>Sakshi</dc:creator>
  <cp:lastModifiedBy>Juhi Sakshi</cp:lastModifiedBy>
  <cp:revision>6</cp:revision>
  <dcterms:created xsi:type="dcterms:W3CDTF">2006-08-16T00:00:00Z</dcterms:created>
  <dcterms:modified xsi:type="dcterms:W3CDTF">2026-09-02T03:52:45Z</dcterms:modified>
  <dc:identifier>DAHRhpAl1Pg</dc:identifier>
</cp:coreProperties>
</file>